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4CDB"/>
                </a:solidFill>
                <a:latin typeface="Calibri"/>
              </a:defRPr>
            </a:pPr>
            <a:r>
              <a:t>QUARTER 3 PERFORMANCE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222233"/>
                </a:solidFill>
                <a:latin typeface="Calibri"/>
              </a:defRPr>
            </a:pPr>
            <a:r>
              <a:t>Making Teams Work</a:t>
            </a:r>
            <a:br/>
            <a:r>
              <a:t>Faster &amp; Smarter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108960"/>
            <a:ext cx="75895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55570"/>
                </a:solidFill>
                <a:latin typeface="Calibri"/>
              </a:defRPr>
            </a:pPr>
            <a:r>
              <a:t>Delivered two automation projects that help development teams</a:t>
            </a:r>
            <a:br/>
            <a:r>
              <a:t>save time, reduce repeated work, and solve problems faster.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402336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8889A"/>
                </a:solidFill>
                <a:latin typeface="Calibri"/>
              </a:defRPr>
            </a:pPr>
            <a:r>
              <a:t>Manprit Singh Panesar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4754880"/>
            <a:ext cx="1920240" cy="1280160"/>
          </a:xfrm>
          <a:prstGeom prst="roundRect">
            <a:avLst>
              <a:gd name="adj" fmla="val 6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4892040"/>
            <a:ext cx="1920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5B4CD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54406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9A"/>
                </a:solidFill>
                <a:latin typeface="Calibri"/>
              </a:defRPr>
            </a:pPr>
            <a:r>
              <a:t>Projects Delivered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4754880"/>
            <a:ext cx="1920240" cy="1280160"/>
          </a:xfrm>
          <a:prstGeom prst="roundRect">
            <a:avLst>
              <a:gd name="adj" fmla="val 6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4892040"/>
            <a:ext cx="1920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5B4CDB"/>
                </a:solidFill>
                <a:latin typeface="Calibri"/>
              </a:defRPr>
            </a:pPr>
            <a:r>
              <a:t>3+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54406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9A"/>
                </a:solidFill>
                <a:latin typeface="Calibri"/>
              </a:defRPr>
            </a:pPr>
            <a:r>
              <a:t>Teams Benefited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4754880"/>
            <a:ext cx="1920240" cy="1280160"/>
          </a:xfrm>
          <a:prstGeom prst="roundRect">
            <a:avLst>
              <a:gd name="adj" fmla="val 6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4892040"/>
            <a:ext cx="1920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5B4CDB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4406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9A"/>
                </a:solidFill>
                <a:latin typeface="Calibri"/>
              </a:defRPr>
            </a:pPr>
            <a:r>
              <a:t>Time Saved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4CDB"/>
                </a:solidFill>
                <a:latin typeface="Calibri"/>
              </a:defRPr>
            </a:pPr>
            <a:r>
              <a:t>📋  QUARTER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22233"/>
                </a:solidFill>
                <a:latin typeface="Calibri"/>
              </a:defRPr>
            </a:pPr>
            <a:r>
              <a:t>What I Delivered This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55570"/>
                </a:solidFill>
                <a:latin typeface="Calibri"/>
              </a:defRPr>
            </a:pPr>
            <a:r>
              <a:t>Focused on two projects — one to standardize how teams set up their projects, and one to let AI help everyone solve problems instantly.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60320"/>
            <a:ext cx="5394960" cy="3200400"/>
          </a:xfrm>
          <a:prstGeom prst="roundRect">
            <a:avLst>
              <a:gd name="adj" fmla="val 3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222233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22233"/>
                </a:solidFill>
                <a:latin typeface="Calibri"/>
              </a:defRPr>
            </a:pPr>
            <a:r>
              <a:t>React UnifiedCI — Standardized Project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47548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55570"/>
                </a:solidFill>
                <a:latin typeface="Calibri"/>
              </a:defRPr>
            </a:pPr>
            <a:r>
              <a:t>Built a shared, ready-to-use system so every React web application team follows the same quality process — instead of each team creating their own setup from scratch every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60320"/>
            <a:ext cx="5394960" cy="3200400"/>
          </a:xfrm>
          <a:prstGeom prst="roundRect">
            <a:avLst>
              <a:gd name="adj" fmla="val 3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222233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29184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22233"/>
                </a:solidFill>
                <a:latin typeface="Calibri"/>
              </a:defRPr>
            </a:pPr>
            <a:r>
              <a:t>Jenkins MCP — AI-Powered Problem Solver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840480"/>
            <a:ext cx="47548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55570"/>
                </a:solidFill>
                <a:latin typeface="Calibri"/>
              </a:defRPr>
            </a:pPr>
            <a:r>
              <a:t>Connected our build system (Jenkins) with AI, so anyone can simply ask "What went wrong?" in plain English and get an instant answer — no expertise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5B4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22233"/>
                </a:solidFill>
                <a:latin typeface="Calibri"/>
              </a:defRPr>
            </a:pPr>
            <a:r>
              <a:t>React UnifiedCI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77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70"/>
                </a:solidFill>
                <a:latin typeface="Calibri"/>
              </a:defRPr>
            </a:pPr>
            <a:r>
              <a:t>One shared system for all React web application projects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03520" cy="3840480"/>
          </a:xfrm>
          <a:prstGeom prst="roundRect">
            <a:avLst>
              <a:gd name="adj" fmla="val 3000"/>
            </a:avLst>
          </a:prstGeom>
          <a:solidFill>
            <a:srgbClr val="FDEDF0"/>
          </a:solidFill>
          <a:ln w="12700">
            <a:solidFill>
              <a:srgbClr val="E04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406E"/>
                </a:solidFill>
                <a:latin typeface="Calibri"/>
              </a:defRPr>
            </a:pPr>
            <a:r>
              <a:t>❌  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555570"/>
                </a:solidFill>
                <a:latin typeface="Calibri"/>
              </a:defRPr>
            </a:pPr>
            <a:r>
              <a:t>📄  Each team wrote their own setup from scratch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555570"/>
                </a:solidFill>
                <a:latin typeface="Calibri"/>
              </a:defRPr>
            </a:pPr>
            <a:r>
              <a:t>🔧  Different quality levels across teams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555570"/>
                </a:solidFill>
                <a:latin typeface="Calibri"/>
              </a:defRPr>
            </a:pPr>
            <a:r>
              <a:t>⚠️  Some teams skipped important checks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555570"/>
                </a:solidFill>
                <a:latin typeface="Calibri"/>
              </a:defRPr>
            </a:pPr>
            <a:r>
              <a:t>⏱️  New project setup took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20040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8889A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303520" cy="3840480"/>
          </a:xfrm>
          <a:prstGeom prst="roundRect">
            <a:avLst>
              <a:gd name="adj" fmla="val 3000"/>
            </a:avLst>
          </a:prstGeom>
          <a:solidFill>
            <a:srgbClr val="E8F8F0"/>
          </a:solidFill>
          <a:ln w="12700">
            <a:solidFill>
              <a:srgbClr val="0FA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FA38E"/>
                </a:solidFill>
                <a:latin typeface="Calibri"/>
              </a:defRPr>
            </a:pPr>
            <a:r>
              <a:t>✅  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555570"/>
                </a:solidFill>
                <a:latin typeface="Calibri"/>
              </a:defRPr>
            </a:pPr>
            <a:r>
              <a:t>📦  One shared system used by all teams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555570"/>
                </a:solidFill>
                <a:latin typeface="Calibri"/>
              </a:defRPr>
            </a:pPr>
            <a:r>
              <a:t>🎯  Same quality standard everywhere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555570"/>
                </a:solidFill>
                <a:latin typeface="Calibri"/>
              </a:defRPr>
            </a:pPr>
            <a:r>
              <a:t>✅  All checks run automatically, nothing skipped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555570"/>
                </a:solidFill>
                <a:latin typeface="Calibri"/>
              </a:defRPr>
            </a:pPr>
            <a:r>
              <a:t>🚀  New project setup in minutes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69280"/>
            <a:ext cx="2560320" cy="1005840"/>
          </a:xfrm>
          <a:prstGeom prst="roundRect">
            <a:avLst>
              <a:gd name="adj" fmla="val 8000"/>
            </a:avLst>
          </a:prstGeom>
          <a:solidFill>
            <a:srgbClr val="5B4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76072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179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8E8F0"/>
                </a:solidFill>
                <a:latin typeface="Calibri"/>
              </a:defRPr>
            </a:pPr>
            <a:r>
              <a:t>Faster Setup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5669280"/>
            <a:ext cx="2560320" cy="1005840"/>
          </a:xfrm>
          <a:prstGeom prst="roundRect">
            <a:avLst>
              <a:gd name="adj" fmla="val 8000"/>
            </a:avLst>
          </a:prstGeom>
          <a:solidFill>
            <a:srgbClr val="5B4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576072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62179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8E8F0"/>
                </a:solidFill>
                <a:latin typeface="Calibri"/>
              </a:defRPr>
            </a:pPr>
            <a:r>
              <a:t>Quality Automated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5669280"/>
            <a:ext cx="2560320" cy="1005840"/>
          </a:xfrm>
          <a:prstGeom prst="roundRect">
            <a:avLst>
              <a:gd name="adj" fmla="val 8000"/>
            </a:avLst>
          </a:prstGeom>
          <a:solidFill>
            <a:srgbClr val="5B4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576072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62179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8E8F0"/>
                </a:solidFill>
                <a:latin typeface="Calibri"/>
              </a:defRPr>
            </a:pPr>
            <a:r>
              <a:t>System for All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5669280"/>
            <a:ext cx="2560320" cy="1005840"/>
          </a:xfrm>
          <a:prstGeom prst="roundRect">
            <a:avLst>
              <a:gd name="adj" fmla="val 8000"/>
            </a:avLst>
          </a:prstGeom>
          <a:solidFill>
            <a:srgbClr val="5B4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576072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62179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8E8F0"/>
                </a:solidFill>
                <a:latin typeface="Calibri"/>
              </a:defRPr>
            </a:pPr>
            <a:r>
              <a:t>Manual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4CDB"/>
                </a:solidFill>
                <a:latin typeface="Calibri"/>
              </a:defRPr>
            </a:pPr>
            <a:r>
              <a:t>⚙️  REACT UNIFIEDCI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22233"/>
                </a:solidFill>
                <a:latin typeface="Calibri"/>
              </a:defRPr>
            </a:pPr>
            <a:r>
              <a:t>How It Works — Fully Automatic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55570"/>
                </a:solidFill>
                <a:latin typeface="Calibri"/>
              </a:defRPr>
            </a:pPr>
            <a:r>
              <a:t>Teams just connect their project — the system does the quality checking, testing, and reporting on its own.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463040" cy="1371600"/>
          </a:xfrm>
          <a:prstGeom prst="roundRect">
            <a:avLst>
              <a:gd name="adj" fmla="val 6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22233"/>
                </a:solidFill>
                <a:latin typeface="Calibri"/>
              </a:defRPr>
            </a:pPr>
            <a:r>
              <a:t>👨‍💻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603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2233"/>
                </a:solidFill>
                <a:latin typeface="Calibri"/>
              </a:defRPr>
            </a:pPr>
            <a:r>
              <a:t>Developer Saves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803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8889A"/>
                </a:solidFill>
                <a:latin typeface="Calibri"/>
              </a:defRPr>
            </a:pPr>
            <a:r>
              <a:t>Code is submitted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423160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B4C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2103120"/>
            <a:ext cx="1463040" cy="1371600"/>
          </a:xfrm>
          <a:prstGeom prst="roundRect">
            <a:avLst>
              <a:gd name="adj" fmla="val 6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19456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22233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5603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2233"/>
                </a:solidFill>
                <a:latin typeface="Calibri"/>
              </a:defRPr>
            </a:pPr>
            <a:r>
              <a:t>Quality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8803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8889A"/>
                </a:solidFill>
                <a:latin typeface="Calibri"/>
              </a:defRPr>
            </a:pPr>
            <a:r>
              <a:t>Checks for errors automatically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423160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B4C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103120"/>
            <a:ext cx="1463040" cy="1371600"/>
          </a:xfrm>
          <a:prstGeom prst="roundRect">
            <a:avLst>
              <a:gd name="adj" fmla="val 6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19456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22233"/>
                </a:solidFill>
                <a:latin typeface="Calibri"/>
              </a:defRPr>
            </a:pPr>
            <a:r>
              <a:t>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5603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2233"/>
                </a:solidFill>
                <a:latin typeface="Calibri"/>
              </a:defRPr>
            </a:pPr>
            <a:r>
              <a:t>Build &amp;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8803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8889A"/>
                </a:solidFill>
                <a:latin typeface="Calibri"/>
              </a:defRPr>
            </a:pPr>
            <a:r>
              <a:t>Builds project &amp; runs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423160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B4C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103120"/>
            <a:ext cx="1463040" cy="1371600"/>
          </a:xfrm>
          <a:prstGeom prst="roundRect">
            <a:avLst>
              <a:gd name="adj" fmla="val 6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19456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22233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5603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2233"/>
                </a:solidFill>
                <a:latin typeface="Calibri"/>
              </a:defRPr>
            </a:pPr>
            <a:r>
              <a:t>Report Created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8803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8889A"/>
                </a:solidFill>
                <a:latin typeface="Calibri"/>
              </a:defRPr>
            </a:pPr>
            <a:r>
              <a:t>Clear pass/fail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423160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B4C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2103120"/>
            <a:ext cx="1463040" cy="1371600"/>
          </a:xfrm>
          <a:prstGeom prst="roundRect">
            <a:avLst>
              <a:gd name="adj" fmla="val 6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219456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22233"/>
                </a:solidFill>
                <a:latin typeface="Calibri"/>
              </a:defRPr>
            </a:pPr>
            <a:r>
              <a:t>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25603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2233"/>
                </a:solidFill>
                <a:latin typeface="Calibri"/>
              </a:defRPr>
            </a:pPr>
            <a:r>
              <a:t>Team Notified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28803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8889A"/>
                </a:solidFill>
                <a:latin typeface="Calibri"/>
              </a:defRPr>
            </a:pPr>
            <a:r>
              <a:t>Email &amp; Slack alerts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114800"/>
            <a:ext cx="2606040" cy="1463040"/>
          </a:xfrm>
          <a:prstGeom prst="roundRect">
            <a:avLst>
              <a:gd name="adj" fmla="val 4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251960"/>
            <a:ext cx="2240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222233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663440"/>
            <a:ext cx="2386584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2233"/>
                </a:solidFill>
                <a:latin typeface="Calibri"/>
              </a:defRPr>
            </a:pPr>
            <a:r>
              <a:t>One Shared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983480"/>
            <a:ext cx="2386584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55570"/>
                </a:solidFill>
                <a:latin typeface="Calibri"/>
              </a:defRPr>
            </a:pPr>
            <a:r>
              <a:t>All React teams use the same process now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4114800"/>
            <a:ext cx="2606040" cy="1463040"/>
          </a:xfrm>
          <a:prstGeom prst="roundRect">
            <a:avLst>
              <a:gd name="adj" fmla="val 4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4251960"/>
            <a:ext cx="2240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222233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47288" y="4663440"/>
            <a:ext cx="2386584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2233"/>
                </a:solidFill>
                <a:latin typeface="Calibri"/>
              </a:defRPr>
            </a:pPr>
            <a:r>
              <a:t>Auto Quality Checks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47288" y="4983480"/>
            <a:ext cx="2386584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55570"/>
                </a:solidFill>
                <a:latin typeface="Calibri"/>
              </a:defRPr>
            </a:pPr>
            <a:r>
              <a:t>Errors caught early, nothing missed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0" y="4114800"/>
            <a:ext cx="2606040" cy="1463040"/>
          </a:xfrm>
          <a:prstGeom prst="roundRect">
            <a:avLst>
              <a:gd name="adj" fmla="val 4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251960"/>
            <a:ext cx="2240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222233"/>
                </a:solidFill>
                <a:latin typeface="Calibri"/>
              </a:defRPr>
            </a:pPr>
            <a:r>
              <a:t>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4663440"/>
            <a:ext cx="2386584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2233"/>
                </a:solidFill>
                <a:latin typeface="Calibri"/>
              </a:defRPr>
            </a:pPr>
            <a:r>
              <a:t>Automatic Testing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6208" y="4983480"/>
            <a:ext cx="2386584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55570"/>
                </a:solidFill>
                <a:latin typeface="Calibri"/>
              </a:defRPr>
            </a:pPr>
            <a:r>
              <a:t>Tests run on their own with clear reports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15400" y="4114800"/>
            <a:ext cx="2606040" cy="1463040"/>
          </a:xfrm>
          <a:prstGeom prst="roundRect">
            <a:avLst>
              <a:gd name="adj" fmla="val 4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98280" y="4251960"/>
            <a:ext cx="2240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222233"/>
                </a:solidFill>
                <a:latin typeface="Calibri"/>
              </a:defRPr>
            </a:pPr>
            <a:r>
              <a:t>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25128" y="4663440"/>
            <a:ext cx="2386584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2233"/>
                </a:solidFill>
                <a:latin typeface="Calibri"/>
              </a:defRPr>
            </a:pPr>
            <a:r>
              <a:t>Instant Notifications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25128" y="4983480"/>
            <a:ext cx="2386584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55570"/>
                </a:solidFill>
                <a:latin typeface="Calibri"/>
              </a:defRPr>
            </a:pPr>
            <a:r>
              <a:t>Teams know the status right away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A3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22233"/>
                </a:solidFill>
                <a:latin typeface="Calibri"/>
              </a:defRPr>
            </a:pPr>
            <a:r>
              <a:t>Jenkins MCP — AI-Powered Problem Solver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77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70"/>
                </a:solidFill>
                <a:latin typeface="Calibri"/>
              </a:defRPr>
            </a:pPr>
            <a:r>
              <a:t>Anyone can ask questions in plain English and get instant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03520" cy="3200400"/>
          </a:xfrm>
          <a:prstGeom prst="roundRect">
            <a:avLst>
              <a:gd name="adj" fmla="val 3000"/>
            </a:avLst>
          </a:prstGeom>
          <a:solidFill>
            <a:srgbClr val="FDEDF0"/>
          </a:solidFill>
          <a:ln w="12700">
            <a:solidFill>
              <a:srgbClr val="E04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406E"/>
                </a:solidFill>
                <a:latin typeface="Calibri"/>
              </a:defRPr>
            </a:pPr>
            <a:r>
              <a:t>❌  The Old 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555570"/>
                </a:solidFill>
                <a:latin typeface="Calibri"/>
              </a:defRPr>
            </a:pPr>
            <a:r>
              <a:t>🖥️  Log into the system manually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555570"/>
                </a:solidFill>
                <a:latin typeface="Calibri"/>
              </a:defRPr>
            </a:pPr>
            <a:r>
              <a:t>📜  Scroll through thousands of lines to find the error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555570"/>
                </a:solidFill>
                <a:latin typeface="Calibri"/>
              </a:defRPr>
            </a:pPr>
            <a:r>
              <a:t>🤔  Only experts could understand the issues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555570"/>
                </a:solidFill>
                <a:latin typeface="Calibri"/>
              </a:defRPr>
            </a:pPr>
            <a:r>
              <a:t>⏰  Took hours to find and fix a single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83464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8889A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303520" cy="3200400"/>
          </a:xfrm>
          <a:prstGeom prst="roundRect">
            <a:avLst>
              <a:gd name="adj" fmla="val 3000"/>
            </a:avLst>
          </a:prstGeom>
          <a:solidFill>
            <a:srgbClr val="E8F8F0"/>
          </a:solidFill>
          <a:ln w="12700">
            <a:solidFill>
              <a:srgbClr val="0FA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FA38E"/>
                </a:solidFill>
                <a:latin typeface="Calibri"/>
              </a:defRPr>
            </a:pPr>
            <a:r>
              <a:t>✅  The AI 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555570"/>
                </a:solidFill>
                <a:latin typeface="Calibri"/>
              </a:defRPr>
            </a:pPr>
            <a:r>
              <a:t>💬  Just ask: "What went wrong?"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555570"/>
                </a:solidFill>
                <a:latin typeface="Calibri"/>
              </a:defRPr>
            </a:pPr>
            <a:r>
              <a:t>⚡  AI finds the issue instantly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555570"/>
                </a:solidFill>
                <a:latin typeface="Calibri"/>
              </a:defRPr>
            </a:pPr>
            <a:r>
              <a:t>🧠  Anyone can use it — no expertise needed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555570"/>
                </a:solidFill>
                <a:latin typeface="Calibri"/>
              </a:defRPr>
            </a:pPr>
            <a:r>
              <a:t>✅  Get the fix suggestion in seconds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120640"/>
            <a:ext cx="3474720" cy="1463040"/>
          </a:xfrm>
          <a:prstGeom prst="roundRect">
            <a:avLst>
              <a:gd name="adj" fmla="val 4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3108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222233"/>
                </a:solidFill>
                <a:latin typeface="Calibri"/>
              </a:defRPr>
            </a:pPr>
            <a:r>
              <a:t>👨‍💻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669280"/>
            <a:ext cx="3255264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2233"/>
                </a:solidFill>
                <a:latin typeface="Calibri"/>
              </a:defRPr>
            </a:pPr>
            <a:r>
              <a:t>Developers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989320"/>
            <a:ext cx="3255264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55570"/>
                </a:solidFill>
                <a:latin typeface="Calibri"/>
              </a:defRPr>
            </a:pPr>
            <a:r>
              <a:t>"Why did my project fail?"</a:t>
            </a:r>
            <a:br/>
            <a:r>
              <a:t>→ Instant answer + fix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5120640"/>
            <a:ext cx="3474720" cy="1463040"/>
          </a:xfrm>
          <a:prstGeom prst="roundRect">
            <a:avLst>
              <a:gd name="adj" fmla="val 4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5257800"/>
            <a:ext cx="3108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222233"/>
                </a:solidFill>
                <a:latin typeface="Calibri"/>
              </a:defRPr>
            </a:pPr>
            <a:r>
              <a:t>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7" y="5669280"/>
            <a:ext cx="3255264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2233"/>
                </a:solidFill>
                <a:latin typeface="Calibri"/>
              </a:defRPr>
            </a:pPr>
            <a:r>
              <a:t>QA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7" y="5989320"/>
            <a:ext cx="3255264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55570"/>
                </a:solidFill>
                <a:latin typeface="Calibri"/>
              </a:defRPr>
            </a:pPr>
            <a:r>
              <a:t>"Show all failures from today"</a:t>
            </a:r>
            <a:br/>
            <a:r>
              <a:t>→ Full summary in seconds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8" y="5120640"/>
            <a:ext cx="3474720" cy="1463040"/>
          </a:xfrm>
          <a:prstGeom prst="roundRect">
            <a:avLst>
              <a:gd name="adj" fmla="val 4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8" y="5257800"/>
            <a:ext cx="3108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222233"/>
                </a:solidFill>
                <a:latin typeface="Calibri"/>
              </a:defRPr>
            </a:pPr>
            <a:r>
              <a:t>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6" y="5669280"/>
            <a:ext cx="3255264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2233"/>
                </a:solidFill>
                <a:latin typeface="Calibri"/>
              </a:defRPr>
            </a:pPr>
            <a:r>
              <a:t>Managers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6" y="5989320"/>
            <a:ext cx="3255264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55570"/>
                </a:solidFill>
                <a:latin typeface="Calibri"/>
              </a:defRPr>
            </a:pPr>
            <a:r>
              <a:t>"Is this ready for release?"</a:t>
            </a:r>
            <a:br/>
            <a:r>
              <a:t>→ AI checks &amp; gives clear answer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FA38E"/>
                </a:solidFill>
                <a:latin typeface="Calibri"/>
              </a:defRPr>
            </a:pPr>
            <a:r>
              <a:t>⚙️  JENKINS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22233"/>
                </a:solidFill>
                <a:latin typeface="Calibri"/>
              </a:defRPr>
            </a:pPr>
            <a:r>
              <a:t>How It Works — Ask and Get Answers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463040" cy="1371600"/>
          </a:xfrm>
          <a:prstGeom prst="roundRect">
            <a:avLst>
              <a:gd name="adj" fmla="val 6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22233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8600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2233"/>
                </a:solidFill>
                <a:latin typeface="Calibri"/>
              </a:defRPr>
            </a:pPr>
            <a:r>
              <a:t>Anyone 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4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8889A"/>
                </a:solidFill>
                <a:latin typeface="Calibri"/>
              </a:defRPr>
            </a:pPr>
            <a:r>
              <a:t>Plain English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148840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B4C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828800"/>
            <a:ext cx="1463040" cy="1371600"/>
          </a:xfrm>
          <a:prstGeom prst="roundRect">
            <a:avLst>
              <a:gd name="adj" fmla="val 6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92024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22233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28600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2233"/>
                </a:solidFill>
                <a:latin typeface="Calibri"/>
              </a:defRPr>
            </a:pPr>
            <a:r>
              <a:t>AI Understands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60604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8889A"/>
                </a:solidFill>
                <a:latin typeface="Calibri"/>
              </a:defRPr>
            </a:pPr>
            <a:r>
              <a:t>Figures out what you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48840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B4C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828800"/>
            <a:ext cx="1463040" cy="1371600"/>
          </a:xfrm>
          <a:prstGeom prst="roundRect">
            <a:avLst>
              <a:gd name="adj" fmla="val 6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92024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22233"/>
                </a:solidFill>
                <a:latin typeface="Calibri"/>
              </a:defRPr>
            </a:pPr>
            <a:r>
              <a:t>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28600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2233"/>
                </a:solidFill>
                <a:latin typeface="Calibri"/>
              </a:defRPr>
            </a:pPr>
            <a:r>
              <a:t>Fetches Info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60604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8889A"/>
                </a:solidFill>
                <a:latin typeface="Calibri"/>
              </a:defRPr>
            </a:pPr>
            <a:r>
              <a:t>Gets the right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148840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B4C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7999" y="1828800"/>
            <a:ext cx="1463040" cy="1371600"/>
          </a:xfrm>
          <a:prstGeom prst="roundRect">
            <a:avLst>
              <a:gd name="adj" fmla="val 6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7999" y="192024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22233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19" y="228600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2233"/>
                </a:solidFill>
                <a:latin typeface="Calibri"/>
              </a:defRPr>
            </a:pPr>
            <a:r>
              <a:t>Finds the Answer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19" y="260604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8889A"/>
                </a:solidFill>
                <a:latin typeface="Calibri"/>
              </a:defRPr>
            </a:pPr>
            <a:r>
              <a:t>What went wrong &amp; why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9" y="2148840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B4C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1828800"/>
            <a:ext cx="1463040" cy="1371600"/>
          </a:xfrm>
          <a:prstGeom prst="roundRect">
            <a:avLst>
              <a:gd name="adj" fmla="val 6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192024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22233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28600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2233"/>
                </a:solidFill>
                <a:latin typeface="Calibri"/>
              </a:defRPr>
            </a:pPr>
            <a:r>
              <a:t>Gives Solution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60604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8889A"/>
                </a:solidFill>
                <a:latin typeface="Calibri"/>
              </a:defRPr>
            </a:pPr>
            <a:r>
              <a:t>Ready-to-apply fix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22233"/>
                </a:solidFill>
                <a:latin typeface="Calibri"/>
              </a:defRPr>
            </a:pPr>
            <a:r>
              <a:t>Real-World Examples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206240"/>
            <a:ext cx="11064240" cy="731520"/>
          </a:xfrm>
          <a:prstGeom prst="roundRect">
            <a:avLst>
              <a:gd name="adj" fmla="val 2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2519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A38E"/>
                </a:solidFill>
                <a:latin typeface="Calibri"/>
              </a:defRPr>
            </a:pPr>
            <a:r>
              <a:t>Developer asks: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48056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48A20"/>
                </a:solidFill>
                <a:latin typeface="Calibri"/>
              </a:defRPr>
            </a:pPr>
            <a:r>
              <a:t>"My build failed — what happened?"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4279392"/>
            <a:ext cx="7498079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5570"/>
                </a:solidFill>
                <a:latin typeface="Calibri"/>
              </a:defRPr>
            </a:pPr>
            <a:r>
              <a:t>AI: "The test failed because the expected text was not found. Suggested fix: Update the component text."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074920"/>
            <a:ext cx="11064240" cy="731520"/>
          </a:xfrm>
          <a:prstGeom prst="roundRect">
            <a:avLst>
              <a:gd name="adj" fmla="val 2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12064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A38E"/>
                </a:solidFill>
                <a:latin typeface="Calibri"/>
              </a:defRPr>
            </a:pPr>
            <a:r>
              <a:t>QA asks: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34924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48A20"/>
                </a:solidFill>
                <a:latin typeface="Calibri"/>
              </a:defRPr>
            </a:pPr>
            <a:r>
              <a:t>"How many builds failed today?"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5148072"/>
            <a:ext cx="7498079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5570"/>
                </a:solidFill>
                <a:latin typeface="Calibri"/>
              </a:defRPr>
            </a:pPr>
            <a:r>
              <a:t>AI: "3 out of 12 builds failed today. Here's a summary of each failure with root causes and fixes."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943600"/>
            <a:ext cx="11064240" cy="731520"/>
          </a:xfrm>
          <a:prstGeom prst="roundRect">
            <a:avLst>
              <a:gd name="adj" fmla="val 2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89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A38E"/>
                </a:solidFill>
                <a:latin typeface="Calibri"/>
              </a:defRPr>
            </a:pPr>
            <a:r>
              <a:t>Manager asks: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21792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48A20"/>
                </a:solidFill>
                <a:latin typeface="Calibri"/>
              </a:defRPr>
            </a:pPr>
            <a:r>
              <a:t>"Is the latest release ready to deploy?"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6016752"/>
            <a:ext cx="7498079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5570"/>
                </a:solidFill>
                <a:latin typeface="Calibri"/>
              </a:defRPr>
            </a:pPr>
            <a:r>
              <a:t>AI: "The latest build passed all checks and tests. It's ready for deployment."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48A20"/>
                </a:solidFill>
                <a:latin typeface="Calibri"/>
              </a:defRPr>
            </a:pPr>
            <a:r>
              <a:t>📊  RESULTS &amp;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22233"/>
                </a:solidFill>
                <a:latin typeface="Calibri"/>
              </a:defRPr>
            </a:pPr>
            <a:r>
              <a:t>Quarter 3 Impact &amp; Learnings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0FA3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8E8F0"/>
                </a:solidFill>
                <a:latin typeface="Calibri"/>
              </a:defRPr>
            </a:pPr>
            <a:r>
              <a:t>Less Time</a:t>
            </a:r>
            <a:br/>
            <a:r>
              <a:t>Solving Problems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5448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0FA3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64592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10312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8E8F0"/>
                </a:solidFill>
                <a:latin typeface="Calibri"/>
              </a:defRPr>
            </a:pPr>
            <a:r>
              <a:t>Faster</a:t>
            </a:r>
            <a:br/>
            <a:r>
              <a:t>Project Setup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0FA3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4592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0312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8E8F0"/>
                </a:solidFill>
                <a:latin typeface="Calibri"/>
              </a:defRPr>
            </a:pPr>
            <a:r>
              <a:t>Consistent</a:t>
            </a:r>
            <a:br/>
            <a:r>
              <a:t>Quality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155448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0FA3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164592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10312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8E8F0"/>
                </a:solidFill>
                <a:latin typeface="Calibri"/>
              </a:defRPr>
            </a:pPr>
            <a:r>
              <a:t>Teams</a:t>
            </a:r>
            <a:br/>
            <a:r>
              <a:t>Self-Sufficient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926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22233"/>
                </a:solidFill>
                <a:latin typeface="Calibri"/>
              </a:defRPr>
            </a:pPr>
            <a:r>
              <a:t>Key Learnings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83280"/>
            <a:ext cx="3474720" cy="1645920"/>
          </a:xfrm>
          <a:prstGeom prst="roundRect">
            <a:avLst>
              <a:gd name="adj" fmla="val 4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3108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222233"/>
                </a:solidFill>
                <a:latin typeface="Calibri"/>
              </a:defRPr>
            </a:pPr>
            <a:r>
              <a:t>🏗️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931920"/>
            <a:ext cx="3255264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2233"/>
                </a:solidFill>
                <a:latin typeface="Calibri"/>
              </a:defRPr>
            </a:pPr>
            <a:r>
              <a:t>Building Scalable Solutions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251960"/>
            <a:ext cx="3255264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55570"/>
                </a:solidFill>
                <a:latin typeface="Calibri"/>
              </a:defRPr>
            </a:pPr>
            <a:r>
              <a:t>Designing one system that</a:t>
            </a:r>
            <a:br/>
            <a:r>
              <a:t>serves multiple teams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3383280"/>
            <a:ext cx="3474720" cy="1645920"/>
          </a:xfrm>
          <a:prstGeom prst="roundRect">
            <a:avLst>
              <a:gd name="adj" fmla="val 4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3520440"/>
            <a:ext cx="3108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222233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7" y="3931920"/>
            <a:ext cx="3255264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2233"/>
                </a:solidFill>
                <a:latin typeface="Calibri"/>
              </a:defRPr>
            </a:pPr>
            <a:r>
              <a:t>Working with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7" y="4251960"/>
            <a:ext cx="3255264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55570"/>
                </a:solidFill>
                <a:latin typeface="Calibri"/>
              </a:defRPr>
            </a:pPr>
            <a:r>
              <a:t>Connecting AI to existing</a:t>
            </a:r>
            <a:br/>
            <a:r>
              <a:t>company systems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8" y="3383280"/>
            <a:ext cx="3474720" cy="1645920"/>
          </a:xfrm>
          <a:prstGeom prst="roundRect">
            <a:avLst>
              <a:gd name="adj" fmla="val 4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8" y="3520440"/>
            <a:ext cx="3108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222233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6" y="3931920"/>
            <a:ext cx="3255264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2233"/>
                </a:solidFill>
                <a:latin typeface="Calibri"/>
              </a:defRPr>
            </a:pPr>
            <a:r>
              <a:t>End-to-End Ownership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6" y="4251960"/>
            <a:ext cx="3255264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55570"/>
                </a:solidFill>
                <a:latin typeface="Calibri"/>
              </a:defRPr>
            </a:pPr>
            <a:r>
              <a:t>From idea to delivery —</a:t>
            </a:r>
            <a:br/>
            <a:r>
              <a:t>planning, building, presenting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03520"/>
            <a:ext cx="5394960" cy="1280160"/>
          </a:xfrm>
          <a:prstGeom prst="roundRect">
            <a:avLst>
              <a:gd name="adj" fmla="val 3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949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22233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1500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22233"/>
                </a:solidFill>
                <a:latin typeface="Calibri"/>
              </a:defRPr>
            </a:pPr>
            <a:r>
              <a:t>Same High Standard Everywhere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98932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55570"/>
                </a:solidFill>
                <a:latin typeface="Calibri"/>
              </a:defRPr>
            </a:pPr>
            <a:r>
              <a:t>Every project follows the same quality process — one improvement benefits everyone.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5303520"/>
            <a:ext cx="5394960" cy="1280160"/>
          </a:xfrm>
          <a:prstGeom prst="roundRect">
            <a:avLst>
              <a:gd name="adj" fmla="val 3000"/>
            </a:avLst>
          </a:prstGeom>
          <a:solidFill>
            <a:srgbClr val="F5F5F9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53949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22233"/>
                </a:solidFill>
                <a:latin typeface="Calibri"/>
              </a:defRPr>
            </a:pPr>
            <a:r>
              <a:t>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71500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22233"/>
                </a:solidFill>
                <a:latin typeface="Calibri"/>
              </a:defRPr>
            </a:pPr>
            <a:r>
              <a:t>Teams Work Independently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98932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55570"/>
                </a:solidFill>
                <a:latin typeface="Calibri"/>
              </a:defRPr>
            </a:pPr>
            <a:r>
              <a:t>Anyone can check project status and understand issues on their own — no bottlenecks.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5B4CDB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55570"/>
                </a:solidFill>
                <a:latin typeface="Calibri"/>
              </a:defRPr>
            </a:pPr>
            <a:r>
              <a:t>Happy to answer any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32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8889A"/>
                </a:solidFill>
                <a:latin typeface="Calibri"/>
              </a:defRPr>
            </a:pPr>
            <a:r>
              <a:t>Manprit Singh Panesar · Quarter 3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